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1" d="100"/>
          <a:sy n="131" d="100"/>
        </p:scale>
        <p:origin x="408" y="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1535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2A5F5"/>
                </a:solidFill>
              </a:rPr>
              <a:t>MICROSERVICES 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9144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DigitalWallet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411480" y="233172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11480" y="3218688"/>
            <a:ext cx="4114800" cy="36576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</a:rPr>
              <a:t>Built with  .NET 8  |  SQL Server  |  RabbitMQ  |  JWT  |  MailKit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583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What is DigitalWallet?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42A5F5"/>
                </a:solidFill>
              </a:rPr>
              <a:t>Project Overview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42062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 microservices-based digital wallet backend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API Gateway (Ocelot) + 6 independent microservices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service has its own dedicated SQL Server database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(client→service)  +  RabbitMQ (service→service)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Bearer tokens for authentication across all services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for fully containerized deployment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754880" y="960120"/>
            <a:ext cx="4114800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754880" y="9601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API Gateway  (Port 5000)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12280" y="1463040"/>
            <a:ext cx="0" cy="201168"/>
          </a:xfrm>
          <a:prstGeom prst="line">
            <a:avLst/>
          </a:prstGeom>
          <a:noFill/>
          <a:ln w="254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709928"/>
            <a:ext cx="1316736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709928"/>
            <a:ext cx="13167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Auth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5001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44768" y="1709928"/>
            <a:ext cx="1316736" cy="80467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144768" y="1709928"/>
            <a:ext cx="13167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Wallet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5002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34656" y="1709928"/>
            <a:ext cx="1316736" cy="8046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534656" y="1709928"/>
            <a:ext cx="13167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Rewards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5003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670048"/>
            <a:ext cx="1316736" cy="8046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754880" y="2670048"/>
            <a:ext cx="13167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Notify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5004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44768" y="2670048"/>
            <a:ext cx="1316736" cy="80467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144768" y="2670048"/>
            <a:ext cx="13167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Admin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5005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534656" y="2670048"/>
            <a:ext cx="1316736" cy="804672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534656" y="2670048"/>
            <a:ext cx="13167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Support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5006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3703320"/>
            <a:ext cx="4114800" cy="38404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754880" y="37033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RabbitMQ — Async event bus between all services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565C0"/>
                </a:solidFill>
              </a:rPr>
              <a:t>← Client connects to Gateway only — never directly to services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583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Technology Stack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42A5F5"/>
                </a:solidFill>
              </a:rPr>
              <a:t>Tools &amp; Frameworks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6576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ASP.NET Core 8.0 (C#)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Server 2022 + Entity Framework Core 8.0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Gateway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Ocelot 23.4.2 — routing, rate limiting, CORS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RabbitMQ 3.12 + MassTransit 8.2.5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Bearer tokens + BCrypt.Net password hashing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MailKit 4.3.0 — Gmail SMTP (port 587, StartTLS)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Logging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Serilog (console + file sinks)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Docs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Swagger / Swashbuckle 6.8.1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+ Docker Compose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AuthService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178040" y="155448"/>
            <a:ext cx="1691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178040" y="15544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5C0"/>
                </a:solidFill>
              </a:rPr>
              <a:t>Port 5001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79552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565C0"/>
                </a:solidFill>
              </a:rPr>
              <a:t>Identity  ·  Tokens  ·  KYC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097280"/>
            <a:ext cx="5257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28600" y="1097280"/>
            <a:ext cx="525780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0040" y="1097280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API Endpoints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1490472"/>
            <a:ext cx="50749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/api/auth/otp/send       — send OTP to email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/api/auth/otp/verify     — verify OTP code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/api/auth/signup         — register (needs OTP)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/api/auth/login          — returns JWT + refresh token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/api/auth/refresh-token  — rotate token pair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/api/auth/logout    [JWT]— revoke refresh token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/api/auth/kyc/submit[JWT]— submit KYC document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/api/auth/kyc/status[JWT]— check KYC status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23560" y="1097280"/>
            <a:ext cx="32918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623560" y="1097280"/>
            <a:ext cx="329184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715000" y="10972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Events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15000" y="149047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474F"/>
                </a:solidFill>
              </a:rPr>
              <a:t>Published: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15000" y="171907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</a:rPr>
              <a:t>UserRegistered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</a:rPr>
              <a:t>OtpGenerated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</a:rPr>
              <a:t>UserKYCSubmitted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23560" y="3063240"/>
            <a:ext cx="32918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623560" y="3063240"/>
            <a:ext cx="329184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715000" y="30632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Database Tables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15000" y="3456432"/>
            <a:ext cx="31089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</a:rPr>
              <a:t>Users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</a:rPr>
              <a:t>OTPLogs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</a:rPr>
              <a:t>RefreshTokens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</a:rPr>
              <a:t>KYCDocuments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583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AuthService — Registration &amp; Login Flow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42A5F5"/>
                </a:solidFill>
              </a:rPr>
              <a:t>Step-by-step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42062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600" y="841248"/>
            <a:ext cx="420624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84124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Registration Flow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234440"/>
            <a:ext cx="40233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POST /otp/send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OTP generated → saved to DB + cache
    OtpGenerated event → email sent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POST /signup  (with OTP code)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OTP verified → BCrypt.HashPassword()
    User saved → UserRegistered published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Downstream reactions: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WalletService  → creates wallet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RewardsService  → creates account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NotificationService → welcome email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841248"/>
            <a:ext cx="425196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663440" y="841248"/>
            <a:ext cx="425196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54880" y="84124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Login &amp; Token Flow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234440"/>
            <a:ext cx="40690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POST /login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Find user by email
    BCrypt.Verify(password, hash)
    Check IsActive = true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Generate JWT Access Token (60 min)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Claims: userId, email, role, jti
    Signed: HmacSha256 secret key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Generate Refresh Token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Saved to DB + memory cache
    Returns: { accessToken, refreshToken }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Token Refresh (POST /refresh-token)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Revoke old token → issue new pair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Token Rotation on every refresh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WalletService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178040" y="155448"/>
            <a:ext cx="1691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178040" y="15544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95C"/>
                </a:solidFill>
              </a:rPr>
              <a:t>Port 5002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79552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0695C"/>
                </a:solidFill>
              </a:rPr>
              <a:t>Balances  ·  Top-Ups  ·  Transfers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097280"/>
            <a:ext cx="5257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28600" y="1097280"/>
            <a:ext cx="5257800" cy="34747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0040" y="1097280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API Endpoints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1490472"/>
            <a:ext cx="50749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/api/wallet/balance         [JWT] — balance + KYC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/api/wallet/topup           [JWT] — add money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/api/wallet/transfer        [JWT] — send money (KYC req.)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/api/wallet/transactions    [JWT] — ledger history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 Limits: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TopUp    &lt;= Rs.50,000 / day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Transfer &lt;= Rs.25,000 / day  |  Max 10 transfers/day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23560" y="1097280"/>
            <a:ext cx="32918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623560" y="1097280"/>
            <a:ext cx="3291840" cy="34747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715000" y="10972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Events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15000" y="149047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474F"/>
                </a:solidFill>
              </a:rPr>
              <a:t>Consumed: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15000" y="171907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</a:rPr>
              <a:t>UserRegistered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</a:rPr>
              <a:t>KYCApproved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715000" y="231343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474F"/>
                </a:solidFill>
              </a:rPr>
              <a:t>Published: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15000" y="254203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</a:rPr>
              <a:t>TopUpCompleted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</a:rPr>
              <a:t>TransferCompleted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</a:rPr>
              <a:t>PaymentFailed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23560" y="3063240"/>
            <a:ext cx="32918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623560" y="3063240"/>
            <a:ext cx="3291840" cy="34747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715000" y="30632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Database Tables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15000" y="3456432"/>
            <a:ext cx="31089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</a:rPr>
              <a:t>WalletAccounts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</a:rPr>
              <a:t>LedgerEntries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</a:rPr>
              <a:t>TopUpRequests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</a:rPr>
              <a:t>TransferRequests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</a:rPr>
              <a:t>DailyLimitTrackers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583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WalletService — Transfer Flow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42A5F5"/>
                </a:solidFill>
              </a:rPr>
              <a:t>Step-by-step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01168" y="932688"/>
            <a:ext cx="212140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92608" y="1024128"/>
            <a:ext cx="384048" cy="384048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92608" y="1024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" y="1481328"/>
            <a:ext cx="193852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3E"/>
                </a:solidFill>
              </a:rPr>
              <a:t>POST /transfer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D1B3E"/>
                </a:solidFill>
              </a:rPr>
              <a:t>{ toUserId, amount,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D1B3E"/>
                </a:solidFill>
              </a:rPr>
              <a:t>idempotencyKey }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41448" y="932688"/>
            <a:ext cx="212140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532888" y="1024128"/>
            <a:ext cx="384048" cy="384048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532888" y="1024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32888" y="1481328"/>
            <a:ext cx="193852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3E"/>
                </a:solidFill>
              </a:rPr>
              <a:t>Extract sender userId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D1B3E"/>
                </a:solidFill>
              </a:rPr>
              <a:t>from JWT claims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81728" y="932688"/>
            <a:ext cx="212140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773168" y="1024128"/>
            <a:ext cx="384048" cy="384048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773168" y="1024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73168" y="1481328"/>
            <a:ext cx="193852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3E"/>
                </a:solidFill>
              </a:rPr>
              <a:t>Find sender wallet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D1B3E"/>
                </a:solidFill>
              </a:rPr>
              <a:t>Check: not locked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22008" y="932688"/>
            <a:ext cx="212140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013448" y="1024128"/>
            <a:ext cx="384048" cy="384048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013448" y="1024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13448" y="1481328"/>
            <a:ext cx="193852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3E"/>
                </a:solidFill>
              </a:rPr>
              <a:t>KYCVerified = true?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D1B3E"/>
                </a:solidFill>
              </a:rPr>
              <a:t>Required for transfers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01168" y="2898648"/>
            <a:ext cx="212140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92608" y="2990088"/>
            <a:ext cx="384048" cy="384048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92608" y="2990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92608" y="3447288"/>
            <a:ext cx="193852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3E"/>
                </a:solidFill>
              </a:rPr>
              <a:t>IdempotencyKey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D1B3E"/>
                </a:solidFill>
              </a:rPr>
              <a:t>already processed?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D1B3E"/>
                </a:solidFill>
              </a:rPr>
              <a:t>(safe retry check)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41448" y="2898648"/>
            <a:ext cx="212140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532888" y="2990088"/>
            <a:ext cx="384048" cy="384048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532888" y="2990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532888" y="3447288"/>
            <a:ext cx="193852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3E"/>
                </a:solidFill>
              </a:rPr>
              <a:t>Find recipient wallet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D1B3E"/>
                </a:solidFill>
              </a:rPr>
              <a:t>Check: not locked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81728" y="2898648"/>
            <a:ext cx="212140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773168" y="2990088"/>
            <a:ext cx="384048" cy="384048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773168" y="2990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73168" y="3447288"/>
            <a:ext cx="193852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3E"/>
                </a:solidFill>
              </a:rPr>
              <a:t>Validate limits: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D1B3E"/>
                </a:solidFill>
              </a:rPr>
              <a:t>count&lt;10, total&lt;=25K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D1B3E"/>
                </a:solidFill>
              </a:rPr>
              <a:t>balance &gt;= amount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922008" y="2898648"/>
            <a:ext cx="2121408" cy="178308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7013448" y="2990088"/>
            <a:ext cx="384048" cy="384048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7013448" y="2990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013448" y="3447288"/>
            <a:ext cx="193852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BEGIN TRANSACTION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Create records,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update balances, COMMIT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Publish TransferCompleted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RewardsService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178040" y="155448"/>
            <a:ext cx="1691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178040" y="15544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A1B9A"/>
                </a:solidFill>
              </a:rPr>
              <a:t>Port 5003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79552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6A1B9A"/>
                </a:solidFill>
              </a:rPr>
              <a:t>Points  ·  Tiers  ·  Redemptions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097280"/>
            <a:ext cx="5257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28600" y="1097280"/>
            <a:ext cx="5257800" cy="3474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0040" y="1097280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API Endpoints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1490472"/>
            <a:ext cx="50749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/api/rewards/account       [JWT] — balance + tier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/api/rewards/transactions  [JWT] — point history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/api/rewards/catalog       [JWT] — redeemable items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/api/rewards/redeem        [JWT] — spend points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/api/rewards/redemptions   [JWT] — redemption history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Tiers:  Bronze(0+)  Silver(1K+)  Gold(5K+)  Platinum(10K+)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Rules:  TopUp=0.01pt/Rs  |  Transfer=0.005pt/Rs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23560" y="1097280"/>
            <a:ext cx="32918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623560" y="1097280"/>
            <a:ext cx="3291840" cy="3474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715000" y="10972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Events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15000" y="149047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474F"/>
                </a:solidFill>
              </a:rPr>
              <a:t>Consumed: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15000" y="171907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</a:rPr>
              <a:t>UserRegistered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</a:rPr>
              <a:t>TopUpCompleted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</a:rPr>
              <a:t>TransferCompleted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715000" y="231343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474F"/>
                </a:solidFill>
              </a:rPr>
              <a:t>Published: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15000" y="254203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</a:rPr>
              <a:t>PointsEarned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</a:rPr>
              <a:t>RedemptionCompleted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23560" y="3063240"/>
            <a:ext cx="32918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623560" y="3063240"/>
            <a:ext cx="3291840" cy="3474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715000" y="30632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Database Tables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15000" y="3456432"/>
            <a:ext cx="31089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</a:rPr>
              <a:t>RewardsAccounts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</a:rPr>
              <a:t>RewardsTransactions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</a:rPr>
              <a:t>EarnRules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</a:rPr>
              <a:t>CatalogItems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</a:rPr>
              <a:t>Redemptions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583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RewardsService — Earn &amp; Redeem Flow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42A5F5"/>
                </a:solidFill>
              </a:rPr>
              <a:t>Step-by-step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42062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600" y="841248"/>
            <a:ext cx="4206240" cy="3474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84124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Earning Points (automatic via events)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234440"/>
            <a:ext cx="40233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WalletService publishes TopUpCompleted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TopUpCompletedConsumer receives event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Find EarnRule (TriggerType = "TopUp")
    PointsPerRupee = 0.01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Calculate: 500 x 0.01 = 5 points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Update RewardsAccount:
    PointsBalance+5, LifetimePoints+5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Recalculate tier (Bronze &gt; Silver &gt; Gold...)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Create RewardsTransaction (EARN, +5)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Publish PointsEarned &gt; NotificationService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841248"/>
            <a:ext cx="425196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663440" y="841248"/>
            <a:ext cx="4251960" cy="3474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54880" y="84124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Redeeming Points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1234440"/>
            <a:ext cx="40690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POST /redeem { catalogItemId 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Validate: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item.IsAvailable = true?
    item.StockQuantity != 0?
    account.PointsBalance &gt;= cost?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BEGIN DB TRANSACTION: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Deduct points from account
    Create REDEEM transaction (delta=-N)
    Create Redemption + FulfillmentCode
    Decrease stock (mark unavail. if 0)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COMMIT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Publish RedemptionCompleted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NotificationService sends voucher code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NotificationService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178040" y="155448"/>
            <a:ext cx="1691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178040" y="15544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5100"/>
                </a:solidFill>
              </a:rPr>
              <a:t>Port 5004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79552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E65100"/>
                </a:solidFill>
              </a:rPr>
              <a:t>Email Delivery Hub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097280"/>
            <a:ext cx="5257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28600" y="1097280"/>
            <a:ext cx="5257800" cy="3474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0040" y="1097280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API Endpoints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1490472"/>
            <a:ext cx="50749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/api/notifications               [JWT] — notification history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/api/notifications/templates  [JWT][Admin] — view templates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/api/notifications/templates/{id}[JWT][Admin] — edit template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Pre-seeded Email Templates: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Welcome, OTP, TopUp, Transfer,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KYCApproved, KYCRejected, PointsEarned,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Redemption, PaymentFailed, TicketCreated,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TicketAdminReply, TicketUserReply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23560" y="1097280"/>
            <a:ext cx="32918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623560" y="1097280"/>
            <a:ext cx="3291840" cy="3474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715000" y="10972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Events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15000" y="149047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474F"/>
                </a:solidFill>
              </a:rPr>
              <a:t>Consumed: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15000" y="171907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</a:rPr>
              <a:t>UserRegistered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</a:rPr>
              <a:t>OtpGenerated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</a:rPr>
              <a:t>TopUpCompleted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</a:rPr>
              <a:t>TransferCompleted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</a:rPr>
              <a:t>KYCApproved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</a:rPr>
              <a:t>KYCRejected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</a:rPr>
              <a:t>PointsEarned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</a:rPr>
              <a:t>RedemptionCompleted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</a:rPr>
              <a:t>PaymentFailed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</a:rPr>
              <a:t>TicketCreated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</a:rPr>
              <a:t>TicketReplied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23560" y="3063240"/>
            <a:ext cx="32918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623560" y="3063240"/>
            <a:ext cx="3291840" cy="3474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715000" y="30632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Database Tables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15000" y="3456432"/>
            <a:ext cx="31089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</a:rPr>
              <a:t>NotificationLogs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</a:rPr>
              <a:t>NotificationTemplates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583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NotificationService — Send Email Flow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42A5F5"/>
                </a:solidFill>
              </a:rPr>
              <a:t>Step-by-step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01168" y="932688"/>
            <a:ext cx="212140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92608" y="1024128"/>
            <a:ext cx="384048" cy="38404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92608" y="1024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" y="1481328"/>
            <a:ext cx="193852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3E"/>
                </a:solidFill>
              </a:rPr>
              <a:t>Consumer receives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D1B3E"/>
                </a:solidFill>
              </a:rPr>
              <a:t>RabbitMQ event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41448" y="932688"/>
            <a:ext cx="212140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532888" y="1024128"/>
            <a:ext cx="384048" cy="38404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532888" y="1024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32888" y="1481328"/>
            <a:ext cx="193852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3E"/>
                </a:solidFill>
              </a:rPr>
              <a:t>Call SendAsync()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D1B3E"/>
                </a:solidFill>
              </a:rPr>
              <a:t>type + placeholders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81728" y="932688"/>
            <a:ext cx="212140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773168" y="1024128"/>
            <a:ext cx="384048" cy="38404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773168" y="1024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73168" y="1481328"/>
            <a:ext cx="193852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3E"/>
                </a:solidFill>
              </a:rPr>
              <a:t>Lookup template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D1B3E"/>
                </a:solidFill>
              </a:rPr>
              <a:t>Type + Channel + Active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22008" y="932688"/>
            <a:ext cx="212140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013448" y="1024128"/>
            <a:ext cx="384048" cy="38404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013448" y="1024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13448" y="1481328"/>
            <a:ext cx="193852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3E"/>
                </a:solidFill>
              </a:rPr>
              <a:t>Replace {{placeholders}}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D1B3E"/>
                </a:solidFill>
              </a:rPr>
              <a:t>HTML-encoded (XSS safe)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01168" y="2898648"/>
            <a:ext cx="2121408" cy="17830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92608" y="2990088"/>
            <a:ext cx="384048" cy="38404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92608" y="2990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92608" y="3447288"/>
            <a:ext cx="193852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INSERT NotificationLog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Status = "Pending"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(saved BEFORE sending)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41448" y="2898648"/>
            <a:ext cx="212140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532888" y="2990088"/>
            <a:ext cx="384048" cy="38404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532888" y="2990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532888" y="3447288"/>
            <a:ext cx="193852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3E"/>
                </a:solidFill>
              </a:rPr>
              <a:t>SmtpEmailSender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D1B3E"/>
                </a:solidFill>
              </a:rPr>
              <a:t>Connect gmail:587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D1B3E"/>
                </a:solidFill>
              </a:rPr>
              <a:t>StartTLS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81728" y="2898648"/>
            <a:ext cx="212140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773168" y="2990088"/>
            <a:ext cx="384048" cy="38404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773168" y="2990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73168" y="3447288"/>
            <a:ext cx="193852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3E"/>
                </a:solidFill>
              </a:rPr>
              <a:t>Authenticate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D1B3E"/>
                </a:solidFill>
              </a:rPr>
              <a:t>+ Send MimeMessage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D1B3E"/>
                </a:solidFill>
              </a:rPr>
              <a:t>(HTML email)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922008" y="2898648"/>
            <a:ext cx="212140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7013448" y="2990088"/>
            <a:ext cx="384048" cy="38404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7013448" y="2990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013448" y="3447288"/>
            <a:ext cx="193852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3E"/>
                </a:solidFill>
              </a:rPr>
              <a:t>Update log: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D1B3E"/>
                </a:solidFill>
              </a:rPr>
              <a:t>"Sent" + SentAt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D1B3E"/>
                </a:solidFill>
              </a:rPr>
              <a:t>or "Failed" + error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65100"/>
                </a:solidFill>
              </a:rPr>
              <a:t>Key Design: Log is saved BEFORE sending — failed sends are never lost, always logged for admin review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583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AdminService  (Port 5005)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42A5F5"/>
                </a:solidFill>
              </a:rPr>
              <a:t>Platform Administration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8686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1C1C"/>
                </a:solidFill>
              </a:rPr>
              <a:t>Admin-only access enforced via JWT claims:  Role = "Admin"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01168" y="1572768"/>
            <a:ext cx="21031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71C1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01168" y="1572768"/>
            <a:ext cx="2103120" cy="38404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01168" y="157276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KYC Review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" y="1993392"/>
            <a:ext cx="19202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submitted KYC documents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Reject with reason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KYCApproved / KYCRejected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to RabbitMQ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14016" y="1572768"/>
            <a:ext cx="21031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71C1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414016" y="1572768"/>
            <a:ext cx="2103120" cy="38404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414016" y="157276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 Management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05456" y="1993392"/>
            <a:ext cx="19202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registered users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/ Deactivate accounts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filter users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user details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572768"/>
            <a:ext cx="21031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71C1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626864" y="1572768"/>
            <a:ext cx="2103120" cy="38404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626864" y="157276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Wallet Controls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18304" y="1993392"/>
            <a:ext cx="19202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/ Unlock wallets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wallet balances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monitoring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access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39712" y="1572768"/>
            <a:ext cx="21031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71C1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839712" y="1572768"/>
            <a:ext cx="2103120" cy="38404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839712" y="157276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Events Published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31152" y="1993392"/>
            <a:ext cx="19202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KYCApproved: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WalletService (sets KYCVerified)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NotificationService (approval email)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KYCRejected: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NotificationService (rejection email)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583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SupportTicketService  (Port 5006)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42A5F5"/>
                </a:solidFill>
              </a:rPr>
              <a:t>Customer Support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5029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5029200" cy="347472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91440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Features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307592"/>
            <a:ext cx="484632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create tickets: subject, category, description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view all open tickets and reply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Threaded conversations (user ↔ admin replies)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tracking: Open → InProgress → Resolved → Closed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used for any security operations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40680" y="914400"/>
            <a:ext cx="34747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440680" y="914400"/>
            <a:ext cx="3474720" cy="347472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532120" y="9144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Events Published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32120" y="1307592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TicketCreated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User gets ticket confirmation email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TicketReplied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Admin reply  → User gets notification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User reply   → Admin gets notification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40680" y="2971800"/>
            <a:ext cx="3474720" cy="1920240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532120" y="29992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Smart Routing Logic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532120" y="333756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EBF2"/>
                </a:solidFill>
              </a:rPr>
              <a:t>TicketRepliedConsumer checks ReplyAuthorRole: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2EBF2"/>
                </a:solidFill>
              </a:rPr>
              <a:t>"Admin"  → User gets TicketAdminReply email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2EBF2"/>
                </a:solidFill>
              </a:rPr>
              <a:t>"User"   → Admin gets TicketUserReply email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2EBF2"/>
                </a:solidFill>
              </a:rPr>
              <a:t>Empty email → skip (no notification sent)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583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API Gateway  (Port 5000)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42A5F5"/>
                </a:solidFill>
              </a:rPr>
              <a:t>Single Entry Point — Ocelot 23.4.2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41605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4160520" cy="34747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91440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Capabilities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307592"/>
            <a:ext cx="397764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configuration via ocelot.json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Bearer validation at the gateway level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per route (abuse protection)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configuration for frontend origins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 support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never directly talk to microservices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914400"/>
            <a:ext cx="43434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72000" y="914400"/>
            <a:ext cx="4343400" cy="34747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663440" y="91440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Route Configuration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325880"/>
            <a:ext cx="4343400" cy="475488"/>
          </a:xfrm>
          <a:prstGeom prst="rect">
            <a:avLst/>
          </a:prstGeom>
          <a:solidFill>
            <a:srgbClr val="F5F8FF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572000" y="1325880"/>
            <a:ext cx="64008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681728" y="132588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/api/auth/*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0" y="132588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</a:rPr>
              <a:t>AuthService  :5001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1856232"/>
            <a:ext cx="4343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572000" y="1856232"/>
            <a:ext cx="64008" cy="47548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681728" y="1856232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/api/wallet/*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0" y="185623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95C"/>
                </a:solidFill>
              </a:rPr>
              <a:t>WalletService  :5002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2386584"/>
            <a:ext cx="4343400" cy="475488"/>
          </a:xfrm>
          <a:prstGeom prst="rect">
            <a:avLst/>
          </a:prstGeom>
          <a:solidFill>
            <a:srgbClr val="F5F8FF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572000" y="2386584"/>
            <a:ext cx="64008" cy="47548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681728" y="2386584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/api/rewards/*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0" y="238658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A1B9A"/>
                </a:solidFill>
              </a:rPr>
              <a:t>RewardsService  :5003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2916936"/>
            <a:ext cx="4343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572000" y="2916936"/>
            <a:ext cx="64008" cy="47548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681728" y="2916936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/api/notifications/*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0" y="291693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5100"/>
                </a:solidFill>
              </a:rPr>
              <a:t>NotificationService  :5004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3447288"/>
            <a:ext cx="4343400" cy="475488"/>
          </a:xfrm>
          <a:prstGeom prst="rect">
            <a:avLst/>
          </a:prstGeom>
          <a:solidFill>
            <a:srgbClr val="F5F8FF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572000" y="3447288"/>
            <a:ext cx="64008" cy="47548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681728" y="3447288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/api/admin/*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58000" y="344728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1C1C"/>
                </a:solidFill>
              </a:rPr>
              <a:t>AdminService  :5005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0" y="3977640"/>
            <a:ext cx="4343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572000" y="3977640"/>
            <a:ext cx="64008" cy="47548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681728" y="397764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/api/support/*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58000" y="397764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474F"/>
                </a:solidFill>
              </a:rPr>
              <a:t>SupportTicketService  :5006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583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Event-Driven Communication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42A5F5"/>
                </a:solidFill>
              </a:rPr>
              <a:t>RabbitMQ + MassTransit</a:t>
            </a:r>
            <a:endParaRPr lang="en-US" sz="10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822960"/>
          <a:ext cx="8778240" cy="425196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Published By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Consumed By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UserRegistered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WalletService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 wallet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UserRegistered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RewardsService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 rewards account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UserRegistered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Sends welcome email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OtpGenerated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Sends OTP email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UserKYCSubmitted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Queues for review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KYCApproved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WalletService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Enables transfers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KYCApproved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Sends approval email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KYCRejected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Sends rejection email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TopUpCompleted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WalletService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RewardsService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Awards points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TopUpCompleted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WalletService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Sends confirmation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TransferCompleted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WalletService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RewardsService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Awards points to sender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TransferCompleted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WalletService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Sends confirmation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PaymentFailed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WalletService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Sends failure alert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PointsEarned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RewardsService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Sends points email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RedemptionCompleted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RewardsService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Sends voucher code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TicketCreated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Sends ticket confirmation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TicketReplied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Sends reply notification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583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Database Per Service Pattern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42A5F5"/>
                </a:solidFill>
              </a:rPr>
              <a:t>Each service owns its database — no shared tables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41248"/>
          <a:ext cx="8595360" cy="29870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Tables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AuthService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AuthServiceDb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Users, OTPLogs, RefreshTokens, KYCDocuments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WalletService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WalletServiceDb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WalletAccounts, LedgerEntries, TopUpRequests, TransferRequests, DailyLimitTrackers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RewardsService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RewardsServiceDb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RewardsAccounts, RewardsTransactions, EarnRules, CatalogItems, Redemptions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NotificationService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NotificationServiceDb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NotificationLogs, NotificationTemplates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AdminService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AdminServiceDb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AdminUsers, AuditLogs, KYC review records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SupportTicketService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SupportServiceDb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Tickets, TicketReplies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133088"/>
            <a:ext cx="2084832" cy="8229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274320" y="4133088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Independent Scaling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Each DB scales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with its service load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450592" y="4133088"/>
            <a:ext cx="2084832" cy="8229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2450592" y="4133088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No Coupling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No shared tables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between services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26864" y="4133088"/>
            <a:ext cx="2084832" cy="8229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626864" y="4133088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Schema Freedom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Each service can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change schema freely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803136" y="4133088"/>
            <a:ext cx="2084832" cy="8229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803136" y="4133088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Fault Isolation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One DB failure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does not cascade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583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Security Design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42A5F5"/>
                </a:solidFill>
              </a:rPr>
              <a:t>Authentication &amp; Authorization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21031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210312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28600" y="9144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JWT Tokens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344168"/>
            <a:ext cx="193852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by AuthService only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 validate same key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Claims: userId, email, role, jti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token: 60 min expiry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token: 7 days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skew: 0 (strict)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41448" y="914400"/>
            <a:ext cx="21031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441448" y="914400"/>
            <a:ext cx="2103120" cy="38404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441448" y="9144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Password Security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32888" y="1344168"/>
            <a:ext cx="193852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BCrypt.HashPassword() on signup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BCrypt.Verify() on login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+ work factor included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 never stored in DB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54296" y="914400"/>
            <a:ext cx="21031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654296" y="914400"/>
            <a:ext cx="2103120" cy="38404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654296" y="9144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OTP Security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45736" y="1344168"/>
            <a:ext cx="193852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6-digit random code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5-minute expiry window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DB + memory cache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as used after verify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reused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67144" y="914400"/>
            <a:ext cx="21031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71C1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867144" y="914400"/>
            <a:ext cx="2103120" cy="38404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867144" y="9144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Refresh Token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58584" y="1344168"/>
            <a:ext cx="193852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rotation on every refresh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token revoked immediately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DB + memory cache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Revoked on logout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per session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4251960"/>
            <a:ext cx="8686800" cy="74980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20040" y="425196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Global Exception Middleware (all services):   401 Unauthorized  |  400 Bad Request  |  404 Not Found  |  500 Internal Server Error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583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Clean Architecture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42A5F5"/>
                </a:solidFill>
              </a:rPr>
              <a:t>Used in every single service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01168" y="914400"/>
            <a:ext cx="21031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71C1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201168" y="914400"/>
            <a:ext cx="2103120" cy="38404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01168" y="9144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Layer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" y="1344168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1C1C"/>
                </a:solidFill>
              </a:rPr>
              <a:t>Domain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B71C1C"/>
                </a:solidFill>
              </a:rPr>
              <a:t>(Innermost)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" y="1810512"/>
            <a:ext cx="1938528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(DB table shapes)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Enums and value objects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dependencies on other layers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business objects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14016" y="914400"/>
            <a:ext cx="21031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414016" y="914400"/>
            <a:ext cx="2103120" cy="38404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414016" y="9144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Layer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05456" y="1344168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1B9A"/>
                </a:solidFill>
              </a:rPr>
              <a:t>Application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05456" y="1810512"/>
            <a:ext cx="1938528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(contracts)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DTOs (request/response shapes)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implementations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Mappers (Entity → DTO)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914400"/>
            <a:ext cx="21031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626864" y="914400"/>
            <a:ext cx="2103120" cy="38404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626864" y="9144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Layer 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18304" y="1344168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95C"/>
                </a:solidFill>
              </a:rPr>
              <a:t>Infrastructure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18304" y="1810512"/>
            <a:ext cx="1938528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implementations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(EF Core DB queries)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MassTransit consumers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senders (SMTP)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DbContext + data seeding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39712" y="914400"/>
            <a:ext cx="21031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839712" y="914400"/>
            <a:ext cx="210312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839712" y="9144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Layer 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31152" y="1344168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Presentation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(Outermost)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31152" y="1810512"/>
            <a:ext cx="1938528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(HTTP endpoints)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(exceptions, logging)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Program.cs (DI + pipeline)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configuration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01168" y="4224528"/>
            <a:ext cx="8741664" cy="777240"/>
          </a:xfrm>
          <a:prstGeom prst="rect">
            <a:avLst/>
          </a:prstGeom>
          <a:solidFill>
            <a:srgbClr val="EEF4FB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292608" y="4224528"/>
            <a:ext cx="85587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A6B"/>
                </a:solidFill>
              </a:rPr>
              <a:t>Key Patterns:  Repository  ·  Unit of Work  ·  CQRS  ·  Strategy  ·  Dependency Injection  ·  Event-Driven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583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Docker Compose Deployment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42A5F5"/>
                </a:solidFill>
              </a:rPr>
              <a:t>Containerized architecture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064"/>
                </a:solidFill>
              </a:rPr>
              <a:t>Infrastructure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188720"/>
            <a:ext cx="1920240" cy="1280160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28600" y="1188720"/>
            <a:ext cx="1920240" cy="347472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28600" y="11887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SQL Server 2022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" y="1572768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2EBF2"/>
                </a:solidFill>
              </a:rPr>
              <a:t>Shared instance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2EBF2"/>
                </a:solidFill>
              </a:rPr>
              <a:t>Each service: own DB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2EBF2"/>
                </a:solidFill>
              </a:rPr>
              <a:t>Healthcheck: 15s interval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21992" y="1188720"/>
            <a:ext cx="1920240" cy="1280160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221992" y="1188720"/>
            <a:ext cx="1920240" cy="347472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221992" y="11887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RabbitMQ 3.12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313432" y="1572768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2EBF2"/>
                </a:solidFill>
              </a:rPr>
              <a:t>Shared message bus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2EBF2"/>
                </a:solidFill>
              </a:rPr>
              <a:t>Management UI: :15672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2EBF2"/>
                </a:solidFill>
              </a:rPr>
              <a:t>Healthcheck: 10s interval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8600" y="2606040"/>
            <a:ext cx="41148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8600" y="2606040"/>
            <a:ext cx="4114800" cy="347472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20040" y="26060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Deployment Notes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2999232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bridge network: "digitalwallet"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 depend on SQL Server + RabbitMQ health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EF Core migration on startup (Dev mode)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variables override appsettings.json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868680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064"/>
                </a:solidFill>
              </a:rPr>
              <a:t>Service Containers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1188720"/>
            <a:ext cx="4343400" cy="420624"/>
          </a:xfrm>
          <a:prstGeom prst="rect">
            <a:avLst/>
          </a:prstGeom>
          <a:solidFill>
            <a:srgbClr val="F0F8FF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572000" y="1188720"/>
            <a:ext cx="64008" cy="420624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681728" y="118872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api-gateway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589520" y="1188720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47A1"/>
                </a:solidFill>
              </a:rPr>
              <a:t>→  :5000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1641348"/>
            <a:ext cx="4343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572000" y="1641348"/>
            <a:ext cx="64008" cy="42062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681728" y="164134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auth-service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589520" y="1641348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→  :5001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2093976"/>
            <a:ext cx="4343400" cy="420624"/>
          </a:xfrm>
          <a:prstGeom prst="rect">
            <a:avLst/>
          </a:prstGeom>
          <a:solidFill>
            <a:srgbClr val="F0F8FF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572000" y="2093976"/>
            <a:ext cx="64008" cy="420624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681728" y="209397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wallet-service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589520" y="2093976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95C"/>
                </a:solidFill>
              </a:rPr>
              <a:t>→  :5002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0" y="2546604"/>
            <a:ext cx="4343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572000" y="2546604"/>
            <a:ext cx="64008" cy="42062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681728" y="254660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rewards-service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589520" y="2546604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1B9A"/>
                </a:solidFill>
              </a:rPr>
              <a:t>→  :5003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0" y="2999232"/>
            <a:ext cx="4343400" cy="420624"/>
          </a:xfrm>
          <a:prstGeom prst="rect">
            <a:avLst/>
          </a:prstGeom>
          <a:solidFill>
            <a:srgbClr val="F0F8FF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572000" y="2999232"/>
            <a:ext cx="64008" cy="42062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681728" y="299923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notification-service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589520" y="2999232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</a:rPr>
              <a:t>→  :5004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0" y="3451860"/>
            <a:ext cx="4343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572000" y="3451860"/>
            <a:ext cx="64008" cy="420624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681728" y="345186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admin-service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589520" y="3451860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1C1C"/>
                </a:solidFill>
              </a:rPr>
              <a:t>→  :5005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0" y="3904488"/>
            <a:ext cx="4343400" cy="420624"/>
          </a:xfrm>
          <a:prstGeom prst="rect">
            <a:avLst/>
          </a:prstGeom>
          <a:solidFill>
            <a:srgbClr val="F0F8FF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4572000" y="3904488"/>
            <a:ext cx="64008" cy="42062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681728" y="390448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support-service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589520" y="3904488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474F"/>
                </a:solidFill>
              </a:rPr>
              <a:t>→  :5006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DigitalWallet — Summary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663440" y="822960"/>
            <a:ext cx="36576" cy="4160520"/>
          </a:xfrm>
          <a:prstGeom prst="rect">
            <a:avLst/>
          </a:prstGeom>
          <a:solidFill>
            <a:srgbClr val="2D4A7A"/>
          </a:solidFill>
          <a:ln w="12700">
            <a:solidFill>
              <a:srgbClr val="2D4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2A5F5"/>
                </a:solidFill>
              </a:rPr>
              <a:t>What We Built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420624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6 microservices + 1 API Gateway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JWT, BCrypt, OTP, Refresh Token rotation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Wallet: top-up, transfer, daily limits, idempotency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Loyalty points + tier system (4 tiers)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11 event types  →  12 email templates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KYC verification workflow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Customer support ticket system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Admin control panel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Full audit trails (ledger, notification logs)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Docker Compose containerized deployment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846320" y="868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2A5F5"/>
                </a:solidFill>
              </a:rPr>
              <a:t>Architecture Principles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234440"/>
            <a:ext cx="41148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Clean Architecture (4 layers)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Event-Driven (RabbitMQ + MassTransit)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Database Per Service pattern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CQRS (read vs write interfaces)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Repository + Unit of Work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Idempotency for financial safety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Global exception handling (Strategy)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Structured logging via Serilog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Soft deletes (IsDeleted query filter)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Token rotation for security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625</TotalTime>
  <Words>2232</Words>
  <Application>Microsoft Office PowerPoint</Application>
  <PresentationFormat>On-screen Show (16:9)</PresentationFormat>
  <Paragraphs>561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DigitalWallet Microservices Architecture</dc:title>
  <dc:subject>PptxGenJS Presentation</dc:subject>
  <dc:creator>PptxGenJS</dc:creator>
  <cp:lastModifiedBy>Yash Siwach</cp:lastModifiedBy>
  <cp:revision>3</cp:revision>
  <dcterms:created xsi:type="dcterms:W3CDTF">2026-04-04T04:07:52Z</dcterms:created>
  <dcterms:modified xsi:type="dcterms:W3CDTF">2026-04-04T14:37:31Z</dcterms:modified>
</cp:coreProperties>
</file>