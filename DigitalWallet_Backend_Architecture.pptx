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922905-DD56-9DFF-9DC1-F7919C9669A7}" v="2" dt="2026-04-15T03:44:11.1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CDDA6A-E7C5-4295-B3FE-005321C81940}" type="datetimeFigureOut"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62C17A-6109-42D4-9608-E86DE09E8A6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35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82880"/>
            <a:ext cx="1280160" cy="1280160"/>
          </a:xfrm>
          <a:prstGeom prst="ellipse">
            <a:avLst/>
          </a:prstGeom>
          <a:solidFill>
            <a:srgbClr val="00C896">
              <a:alpha val="12000"/>
            </a:srgbClr>
          </a:solidFill>
          <a:ln w="19050">
            <a:solidFill>
              <a:srgbClr val="00C896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" y="4023360"/>
            <a:ext cx="914400" cy="914400"/>
          </a:xfrm>
          <a:prstGeom prst="ellipse">
            <a:avLst/>
          </a:prstGeom>
          <a:solidFill>
            <a:srgbClr val="00C896">
              <a:alpha val="8000"/>
            </a:srgbClr>
          </a:solidFill>
          <a:ln w="19050">
            <a:solidFill>
              <a:srgbClr val="00C896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0" y="4206240"/>
            <a:ext cx="731520" cy="731520"/>
          </a:xfrm>
          <a:prstGeom prst="ellipse">
            <a:avLst/>
          </a:prstGeom>
          <a:solidFill>
            <a:srgbClr val="00C896">
              <a:alpha val="6000"/>
            </a:srgbClr>
          </a:solidFill>
          <a:ln w="19050">
            <a:solidFill>
              <a:srgbClr val="00C89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2920"/>
            <a:ext cx="1645920" cy="2743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Wallet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D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Architecture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4572000" cy="0"/>
          </a:xfrm>
          <a:prstGeom prst="line">
            <a:avLst/>
          </a:prstGeom>
          <a:noFill/>
          <a:ln w="25400">
            <a:solidFill>
              <a:srgbClr val="00C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 ·  Clean Architecture  ·  Event-Driven Design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886200"/>
            <a:ext cx="1920240" cy="91440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886200"/>
            <a:ext cx="192024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94106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43708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06040" y="3886200"/>
            <a:ext cx="1920240" cy="91440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06040" y="3886200"/>
            <a:ext cx="192024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394106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10+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606040" y="43708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Events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3886200"/>
            <a:ext cx="1920240" cy="91440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886200"/>
            <a:ext cx="192024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94106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754880" y="43708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03720" y="3886200"/>
            <a:ext cx="1920240" cy="91440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03720" y="3886200"/>
            <a:ext cx="192024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394106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.NET 8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03720" y="43708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Built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128016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22960"/>
            <a:ext cx="2606040" cy="128016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260604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8696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FC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43560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70992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independently deployable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822960"/>
            <a:ext cx="2606040" cy="128016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22960"/>
            <a:ext cx="2606040" cy="640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88696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00400" y="143560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Events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170992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communication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822960"/>
            <a:ext cx="2606040" cy="128016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822960"/>
            <a:ext cx="2606040" cy="640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88696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D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035040" y="143560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35040" y="170992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service, no sharing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331720"/>
            <a:ext cx="8412480" cy="256032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331720"/>
            <a:ext cx="54864" cy="25603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42316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.NET 8 / ASP.NET Core — Microsoft's latest enterprise framework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public entry point via API Gateway (port 5000) — zero internal exposure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async communication via RabbitMQ + MassTransit 8.2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Database-per-service isolation (SQL Server) — no shared schemas, no coupling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Docker containerization with multi-stage production builds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D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1280160" cy="3657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777240"/>
            <a:ext cx="2743200" cy="457200"/>
          </a:xfrm>
          <a:prstGeom prst="rect">
            <a:avLst/>
          </a:prstGeom>
          <a:solidFill>
            <a:srgbClr val="1A3A5C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777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/ Mobile App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1234440"/>
            <a:ext cx="0" cy="274320"/>
          </a:xfrm>
          <a:prstGeom prst="line">
            <a:avLst/>
          </a:prstGeom>
          <a:noFill/>
          <a:ln w="19050">
            <a:solidFill>
              <a:srgbClr val="8FA8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1508760"/>
            <a:ext cx="4572000" cy="548640"/>
          </a:xfrm>
          <a:prstGeom prst="rect">
            <a:avLst/>
          </a:prstGeom>
          <a:solidFill>
            <a:srgbClr val="1C3A20"/>
          </a:solidFill>
          <a:ln w="254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0" y="1508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 :5000  —  Ocelot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40880" y="1600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Only public-facing port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2057400"/>
            <a:ext cx="0" cy="73152"/>
          </a:xfrm>
          <a:prstGeom prst="line">
            <a:avLst/>
          </a:prstGeom>
          <a:noFill/>
          <a:ln w="12700">
            <a:solidFill>
              <a:srgbClr val="8FA8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130552"/>
            <a:ext cx="7680960" cy="0"/>
          </a:xfrm>
          <a:prstGeom prst="line">
            <a:avLst/>
          </a:prstGeom>
          <a:noFill/>
          <a:ln w="12700">
            <a:solidFill>
              <a:srgbClr val="8FA8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130552"/>
            <a:ext cx="0" cy="411480"/>
          </a:xfrm>
          <a:prstGeom prst="line">
            <a:avLst/>
          </a:prstGeom>
          <a:noFill/>
          <a:ln w="12700">
            <a:solidFill>
              <a:srgbClr val="8FA8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2130552"/>
            <a:ext cx="0" cy="411480"/>
          </a:xfrm>
          <a:prstGeom prst="line">
            <a:avLst/>
          </a:prstGeom>
          <a:noFill/>
          <a:ln w="12700">
            <a:solidFill>
              <a:srgbClr val="8FA8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2130552"/>
            <a:ext cx="0" cy="411480"/>
          </a:xfrm>
          <a:prstGeom prst="line">
            <a:avLst/>
          </a:prstGeom>
          <a:noFill/>
          <a:ln w="12700">
            <a:solidFill>
              <a:srgbClr val="8FA8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30552"/>
            <a:ext cx="0" cy="411480"/>
          </a:xfrm>
          <a:prstGeom prst="line">
            <a:avLst/>
          </a:prstGeom>
          <a:noFill/>
          <a:ln w="12700">
            <a:solidFill>
              <a:srgbClr val="8FA8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2130552"/>
            <a:ext cx="0" cy="411480"/>
          </a:xfrm>
          <a:prstGeom prst="line">
            <a:avLst/>
          </a:prstGeom>
          <a:noFill/>
          <a:ln w="12700">
            <a:solidFill>
              <a:srgbClr val="8FA8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23760" y="2130552"/>
            <a:ext cx="0" cy="411480"/>
          </a:xfrm>
          <a:prstGeom prst="line">
            <a:avLst/>
          </a:prstGeom>
          <a:noFill/>
          <a:ln w="12700">
            <a:solidFill>
              <a:srgbClr val="8FA8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5320" y="2130552"/>
            <a:ext cx="0" cy="411480"/>
          </a:xfrm>
          <a:prstGeom prst="line">
            <a:avLst/>
          </a:prstGeom>
          <a:noFill/>
          <a:ln w="12700">
            <a:solidFill>
              <a:srgbClr val="8FA8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2423160"/>
            <a:ext cx="1143000" cy="640080"/>
          </a:xfrm>
          <a:prstGeom prst="rect">
            <a:avLst/>
          </a:prstGeom>
          <a:solidFill>
            <a:srgbClr val="162840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24231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:5001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508760" y="2423160"/>
            <a:ext cx="1143000" cy="640080"/>
          </a:xfrm>
          <a:prstGeom prst="rect">
            <a:avLst/>
          </a:prstGeom>
          <a:solidFill>
            <a:srgbClr val="162840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08760" y="24231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:5002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88920" y="2423160"/>
            <a:ext cx="1143000" cy="640080"/>
          </a:xfrm>
          <a:prstGeom prst="rect">
            <a:avLst/>
          </a:prstGeom>
          <a:solidFill>
            <a:srgbClr val="162840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88920" y="24231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:5003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069080" y="2423160"/>
            <a:ext cx="1143000" cy="640080"/>
          </a:xfrm>
          <a:prstGeom prst="rect">
            <a:avLst/>
          </a:prstGeom>
          <a:solidFill>
            <a:srgbClr val="162840"/>
          </a:solidFill>
          <a:ln w="19050">
            <a:solidFill>
              <a:srgbClr val="FF70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69080" y="24231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:5004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349240" y="2423160"/>
            <a:ext cx="1143000" cy="640080"/>
          </a:xfrm>
          <a:prstGeom prst="rect">
            <a:avLst/>
          </a:prstGeom>
          <a:solidFill>
            <a:srgbClr val="162840"/>
          </a:solidFill>
          <a:ln w="19050">
            <a:solidFill>
              <a:srgbClr val="AB47B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49240" y="24231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:5005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629400" y="2423160"/>
            <a:ext cx="1143000" cy="640080"/>
          </a:xfrm>
          <a:prstGeom prst="rect">
            <a:avLst/>
          </a:prstGeom>
          <a:solidFill>
            <a:srgbClr val="162840"/>
          </a:solidFill>
          <a:ln w="19050">
            <a:solidFill>
              <a:srgbClr val="26C6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24231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:5006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909560" y="2423160"/>
            <a:ext cx="1143000" cy="640080"/>
          </a:xfrm>
          <a:prstGeom prst="rect">
            <a:avLst/>
          </a:prstGeom>
          <a:solidFill>
            <a:srgbClr val="162840"/>
          </a:solidFill>
          <a:ln w="19050">
            <a:solidFill>
              <a:srgbClr val="EF53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09560" y="24231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:5007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22960" y="3063240"/>
            <a:ext cx="0" cy="320040"/>
          </a:xfrm>
          <a:prstGeom prst="line">
            <a:avLst/>
          </a:prstGeom>
          <a:noFill/>
          <a:ln w="12700">
            <a:solidFill>
              <a:srgbClr val="8FA8C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03120" y="3063240"/>
            <a:ext cx="0" cy="320040"/>
          </a:xfrm>
          <a:prstGeom prst="line">
            <a:avLst/>
          </a:prstGeom>
          <a:noFill/>
          <a:ln w="12700">
            <a:solidFill>
              <a:srgbClr val="8FA8C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0" y="3063240"/>
            <a:ext cx="0" cy="320040"/>
          </a:xfrm>
          <a:prstGeom prst="line">
            <a:avLst/>
          </a:prstGeom>
          <a:noFill/>
          <a:ln w="12700">
            <a:solidFill>
              <a:srgbClr val="8FA8C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3063240"/>
            <a:ext cx="0" cy="320040"/>
          </a:xfrm>
          <a:prstGeom prst="line">
            <a:avLst/>
          </a:prstGeom>
          <a:noFill/>
          <a:ln w="12700">
            <a:solidFill>
              <a:srgbClr val="8FA8C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3063240"/>
            <a:ext cx="0" cy="320040"/>
          </a:xfrm>
          <a:prstGeom prst="line">
            <a:avLst/>
          </a:prstGeom>
          <a:noFill/>
          <a:ln w="12700">
            <a:solidFill>
              <a:srgbClr val="8FA8C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23760" y="3063240"/>
            <a:ext cx="0" cy="320040"/>
          </a:xfrm>
          <a:prstGeom prst="line">
            <a:avLst/>
          </a:prstGeom>
          <a:noFill/>
          <a:ln w="12700">
            <a:solidFill>
              <a:srgbClr val="8FA8C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75320" y="3063240"/>
            <a:ext cx="0" cy="320040"/>
          </a:xfrm>
          <a:prstGeom prst="line">
            <a:avLst/>
          </a:prstGeom>
          <a:noFill/>
          <a:ln w="12700">
            <a:solidFill>
              <a:srgbClr val="8FA8C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1520" y="3383280"/>
            <a:ext cx="7680960" cy="0"/>
          </a:xfrm>
          <a:prstGeom prst="line">
            <a:avLst/>
          </a:prstGeom>
          <a:noFill/>
          <a:ln w="12700">
            <a:solidFill>
              <a:srgbClr val="8FA8C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0" y="3383280"/>
            <a:ext cx="0" cy="274320"/>
          </a:xfrm>
          <a:prstGeom prst="line">
            <a:avLst/>
          </a:prstGeom>
          <a:noFill/>
          <a:ln w="12700">
            <a:solidFill>
              <a:srgbClr val="8FA8C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58000" y="3383280"/>
            <a:ext cx="0" cy="274320"/>
          </a:xfrm>
          <a:prstGeom prst="line">
            <a:avLst/>
          </a:prstGeom>
          <a:noFill/>
          <a:ln w="12700">
            <a:solidFill>
              <a:srgbClr val="8FA8C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3657600"/>
            <a:ext cx="3840480" cy="594360"/>
          </a:xfrm>
          <a:prstGeom prst="rect">
            <a:avLst/>
          </a:prstGeom>
          <a:solidFill>
            <a:srgbClr val="162840"/>
          </a:solidFill>
          <a:ln w="1905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65760" y="36576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Databases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service — no shared schema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937760" y="3657600"/>
            <a:ext cx="3840480" cy="594360"/>
          </a:xfrm>
          <a:prstGeom prst="rect">
            <a:avLst/>
          </a:prstGeom>
          <a:solidFill>
            <a:srgbClr val="162840"/>
          </a:solidFill>
          <a:ln w="19050">
            <a:solidFill>
              <a:srgbClr val="FFD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937760" y="36576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Message Bus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async communication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solidFill>
            <a:srgbClr val="1A2E1A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Zero Trust Network — Internal services are unreachable from the internet. Only the Gateway is exposed.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Gateway — Single Entry Point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128016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22960"/>
            <a:ext cx="3840480" cy="265176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54864" cy="26517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14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Ocelot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3520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JWT validation at the gateway level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enforcement and preflight management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logging and correlation IDs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matching with wildcard patterns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downstream services are internal-only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security perimeter for the entire system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0" y="8229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Table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234440"/>
            <a:ext cx="4114800" cy="384048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234440"/>
            <a:ext cx="45720" cy="38404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2344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/api/auth/**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675120" y="12344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 :5001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673352"/>
            <a:ext cx="4114800" cy="384048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673352"/>
            <a:ext cx="45720" cy="3840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6733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/api/wallet/**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675120" y="167335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WalletService :5002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2112264"/>
            <a:ext cx="4114800" cy="384048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2112264"/>
            <a:ext cx="45720" cy="384048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112264"/>
            <a:ext cx="2011680" cy="38404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47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/api/reward/**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675120" y="211226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RewardsService :5003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2551176"/>
            <a:ext cx="4114800" cy="384048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2551176"/>
            <a:ext cx="45720" cy="384048"/>
          </a:xfrm>
          <a:prstGeom prst="rect">
            <a:avLst/>
          </a:prstGeom>
          <a:solidFill>
            <a:srgbClr val="26C6DA"/>
          </a:solidFill>
          <a:ln w="12700">
            <a:solidFill>
              <a:srgbClr val="26C6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551176"/>
            <a:ext cx="2011680" cy="38404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C6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/api/notifications/**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675120" y="255117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NotificationService :5004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2990088"/>
            <a:ext cx="4114800" cy="384048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2990088"/>
            <a:ext cx="45720" cy="384048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9900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70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/api/admin/**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675120" y="29900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AdminService :5005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3429000"/>
            <a:ext cx="4114800" cy="384048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3429000"/>
            <a:ext cx="45720" cy="38404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34290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5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/api/support/**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675120" y="34290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SupportTicketService :5006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480560"/>
            <a:ext cx="8412480" cy="411480"/>
          </a:xfrm>
          <a:prstGeom prst="rect">
            <a:avLst/>
          </a:prstGeom>
          <a:solidFill>
            <a:srgbClr val="1C2E1A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Gateway  =  One Security Perimeter  =  Zero Exposed Internal Services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C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 Service — Identity &amp; Access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128016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22960"/>
            <a:ext cx="3931920" cy="292608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54864" cy="29260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144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298448"/>
            <a:ext cx="35661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— Pending status by default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verification on login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 (8-hour validity)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Tokens with 7-day expiry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generation with 5-minute expiry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document submission flow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Access: User / Admin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0" y="822960"/>
            <a:ext cx="4206240" cy="292608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822960"/>
            <a:ext cx="54864" cy="292608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9144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298448"/>
            <a:ext cx="37490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/api/auth/register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/api/auth/login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/api/auth/kyc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/api/auth/profile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 Internal: GET /user-by-email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 Internal: PUT /update-status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8587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Flow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4160520"/>
            <a:ext cx="1920240" cy="502920"/>
          </a:xfrm>
          <a:prstGeom prst="rect">
            <a:avLst/>
          </a:prstGeom>
          <a:solidFill>
            <a:srgbClr val="162840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160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0" y="4411980"/>
            <a:ext cx="228600" cy="0"/>
          </a:xfrm>
          <a:prstGeom prst="line">
            <a:avLst/>
          </a:prstGeom>
          <a:noFill/>
          <a:ln w="19050">
            <a:solidFill>
              <a:srgbClr val="8FA8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14600" y="4160520"/>
            <a:ext cx="1920240" cy="502920"/>
          </a:xfrm>
          <a:prstGeom prst="rect">
            <a:avLst/>
          </a:prstGeom>
          <a:solidFill>
            <a:srgbClr val="162840"/>
          </a:solidFill>
          <a:ln w="19050">
            <a:solidFill>
              <a:srgbClr val="8FA8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4160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Status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434840" y="4411980"/>
            <a:ext cx="228600" cy="0"/>
          </a:xfrm>
          <a:prstGeom prst="line">
            <a:avLst/>
          </a:prstGeom>
          <a:noFill/>
          <a:ln w="19050">
            <a:solidFill>
              <a:srgbClr val="8FA8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4160520"/>
            <a:ext cx="1920240" cy="502920"/>
          </a:xfrm>
          <a:prstGeom prst="rect">
            <a:avLst/>
          </a:prstGeom>
          <a:solidFill>
            <a:srgbClr val="162840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4160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KYC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583680" y="4411980"/>
            <a:ext cx="228600" cy="0"/>
          </a:xfrm>
          <a:prstGeom prst="line">
            <a:avLst/>
          </a:prstGeom>
          <a:noFill/>
          <a:ln w="19050">
            <a:solidFill>
              <a:srgbClr val="8FA8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4160520"/>
            <a:ext cx="1920240" cy="502920"/>
          </a:xfrm>
          <a:prstGeom prst="rect">
            <a:avLst/>
          </a:prstGeom>
          <a:solidFill>
            <a:srgbClr val="162840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4160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kyc_submitted →RabbitMQ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DB: Users  ·  KycDocuments  ·  OTPLogs  ·  RefreshTokens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Wallet Service — Core Financial Engine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128016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137160"/>
            <a:ext cx="1463040" cy="2926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0" y="1371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 PATTERN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3931920" cy="210312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22960"/>
            <a:ext cx="54864" cy="21031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144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 (Write Side)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1298448"/>
            <a:ext cx="164592" cy="1645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2984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CreateWallet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1645920"/>
            <a:ext cx="164592" cy="1645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164592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TopUp (credit balance)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1993392"/>
            <a:ext cx="164592" cy="1645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19933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(P2P)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" y="2340864"/>
            <a:ext cx="164592" cy="1645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234086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LockWallet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2688336"/>
            <a:ext cx="164592" cy="1645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268833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CreditWallet (internal)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0" y="822960"/>
            <a:ext cx="4206240" cy="210312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822960"/>
            <a:ext cx="54864" cy="21031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9144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 (Read Side)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1298448"/>
            <a:ext cx="164592" cy="1645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47488" y="12984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GetWallet (balance)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00600" y="1645920"/>
            <a:ext cx="164592" cy="1645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47488" y="16459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GetTransactionHistory (paginated)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00600" y="1993392"/>
            <a:ext cx="164592" cy="1645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47488" y="19933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GetDailyLimitStatus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65760" y="3063240"/>
            <a:ext cx="8412480" cy="155448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063240"/>
            <a:ext cx="841248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163824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Ledger Entries — immutable audit trail for financial compliance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limits: ₹1 – ₹1,00,000 per transaction with daily/monthly caps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AuthService (HTTP) to resolve email → userId for P2P transfers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Publishes: topup_completed  ·  transfer_completed  ·  notifications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DB: WalletAccounts  ·  LedgerEntries  ·  DailyLimitTrackers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D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 Service — Top-Up Processing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1280160" cy="3657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046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Top-Up Flow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1325880" cy="914400"/>
          </a:xfrm>
          <a:prstGeom prst="rect">
            <a:avLst/>
          </a:prstGeom>
          <a:solidFill>
            <a:srgbClr val="162840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70432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00200" y="1627632"/>
            <a:ext cx="137160" cy="0"/>
          </a:xfrm>
          <a:prstGeom prst="line">
            <a:avLst/>
          </a:prstGeom>
          <a:noFill/>
          <a:ln w="19050">
            <a:solidFill>
              <a:srgbClr val="8FA8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7360" y="1170432"/>
            <a:ext cx="1325880" cy="914400"/>
          </a:xfrm>
          <a:prstGeom prst="rect">
            <a:avLst/>
          </a:prstGeom>
          <a:solidFill>
            <a:srgbClr val="162840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1170432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63240" y="1627632"/>
            <a:ext cx="137160" cy="0"/>
          </a:xfrm>
          <a:prstGeom prst="line">
            <a:avLst/>
          </a:prstGeom>
          <a:noFill/>
          <a:ln w="19050">
            <a:solidFill>
              <a:srgbClr val="8FA8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170432"/>
            <a:ext cx="1325880" cy="914400"/>
          </a:xfrm>
          <a:prstGeom prst="rect">
            <a:avLst/>
          </a:prstGeom>
          <a:solidFill>
            <a:srgbClr val="162840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170432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Payment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(Pending)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26280" y="1627632"/>
            <a:ext cx="137160" cy="0"/>
          </a:xfrm>
          <a:prstGeom prst="line">
            <a:avLst/>
          </a:prstGeom>
          <a:noFill/>
          <a:ln w="19050">
            <a:solidFill>
              <a:srgbClr val="8FA8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170432"/>
            <a:ext cx="1325880" cy="914400"/>
          </a:xfrm>
          <a:prstGeom prst="rect">
            <a:avLst/>
          </a:prstGeom>
          <a:solidFill>
            <a:srgbClr val="162840"/>
          </a:solidFill>
          <a:ln w="19050">
            <a:solidFill>
              <a:srgbClr val="FF70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170432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89320" y="1627632"/>
            <a:ext cx="137160" cy="0"/>
          </a:xfrm>
          <a:prstGeom prst="line">
            <a:avLst/>
          </a:prstGeom>
          <a:noFill/>
          <a:ln w="19050">
            <a:solidFill>
              <a:srgbClr val="8FA8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170432"/>
            <a:ext cx="1325880" cy="914400"/>
          </a:xfrm>
          <a:prstGeom prst="rect">
            <a:avLst/>
          </a:prstGeom>
          <a:solidFill>
            <a:srgbClr val="162840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170432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→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/credit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52360" y="1627632"/>
            <a:ext cx="137160" cy="0"/>
          </a:xfrm>
          <a:prstGeom prst="line">
            <a:avLst/>
          </a:prstGeom>
          <a:noFill/>
          <a:ln w="19050">
            <a:solidFill>
              <a:srgbClr val="8FA8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9520" y="1170432"/>
            <a:ext cx="1325880" cy="914400"/>
          </a:xfrm>
          <a:prstGeom prst="rect">
            <a:avLst/>
          </a:prstGeom>
          <a:solidFill>
            <a:srgbClr val="162840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1170432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→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331720"/>
            <a:ext cx="8412480" cy="137160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331720"/>
            <a:ext cx="8412480" cy="137160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331720"/>
            <a:ext cx="54864" cy="13716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2423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Notes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4360" y="27889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Synchronous-only service — no RabbitMQ consumers or publishers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MockGateway always returns true — simulates a real payment processor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forwarded via Authorization header for inter-service calls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Evolution: Top-up logic merged directly into WalletService (no separate service)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886200"/>
            <a:ext cx="4023360" cy="68580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420624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/api/payment/topup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/api/payment/history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886200"/>
            <a:ext cx="4023360" cy="68580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420624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table  (Id, UserId, Amount, Status, CreatedAt)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70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Service — KYC &amp; Operations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1280160" cy="36576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22960"/>
            <a:ext cx="4389120" cy="329184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54864" cy="329184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144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Approval Flow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325880"/>
            <a:ext cx="320040" cy="320040"/>
          </a:xfrm>
          <a:prstGeom prst="ellipse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" y="13258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KYC → AuthService publishes kyc_submitted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1801368"/>
            <a:ext cx="320040" cy="320040"/>
          </a:xfrm>
          <a:prstGeom prst="ellipse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013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" y="180136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AdminService consumer receives event → creates KycReview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276856"/>
            <a:ext cx="320040" cy="320040"/>
          </a:xfrm>
          <a:prstGeom prst="ellipse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2768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51560" y="227685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reviews pending KYC in dashboard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752344"/>
            <a:ext cx="320040" cy="320040"/>
          </a:xfrm>
          <a:prstGeom prst="ellipse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7523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2752344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→ HTTP to AuthService (activate user)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227832"/>
            <a:ext cx="320040" cy="320040"/>
          </a:xfrm>
          <a:prstGeom prst="ellipse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2278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322783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→ HTTP to WalletService (create wallet)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3703320"/>
            <a:ext cx="320040" cy="320040"/>
          </a:xfrm>
          <a:prstGeom prst="ellipse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37033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status = Active → can now transact!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0" y="822960"/>
            <a:ext cx="3749040" cy="182880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0" y="822960"/>
            <a:ext cx="54864" cy="18288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9144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57800" y="1298448"/>
            <a:ext cx="338328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/api/admin/kyc/pending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/api/admin/kyc/all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/api/admin/kyc/{id}/approve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/api/admin/kyc/{id}/reject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/api/admin/dashboard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0" y="2788920"/>
            <a:ext cx="3749040" cy="502920"/>
          </a:xfrm>
          <a:prstGeom prst="rect">
            <a:avLst/>
          </a:prstGeom>
          <a:solidFill>
            <a:srgbClr val="1A1A2E"/>
          </a:solidFill>
          <a:ln w="19050">
            <a:solidFill>
              <a:srgbClr val="FF704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2788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70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[Authorize(Roles = "Admin")]  on ALL endpoints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0" y="3429000"/>
            <a:ext cx="3749040" cy="685800"/>
          </a:xfrm>
          <a:prstGeom prst="rect">
            <a:avLst/>
          </a:prstGeom>
          <a:solidFill>
            <a:srgbClr val="162840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34930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12080" y="3749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kyc_submitted  →  creates KycReview record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DB: KYCReviews  ·  AdminActivityLogs (full audit trail)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B47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Rewards Service — Loyalty Engine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1280160" cy="36576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22960"/>
            <a:ext cx="3200400" cy="329184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54864" cy="3291840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144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Points Work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298448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Consumes: topup_completed events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Consumes: transfer_completed events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max(1, round(amount × 0.1))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via Reference ID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(prevents double-awarding)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Awards points to sender on transfers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items redeemable with points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0" y="8229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System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0" y="1234440"/>
            <a:ext cx="2194560" cy="566928"/>
          </a:xfrm>
          <a:prstGeom prst="rect">
            <a:avLst/>
          </a:prstGeom>
          <a:solidFill>
            <a:srgbClr val="162840"/>
          </a:solidFill>
          <a:ln w="19050">
            <a:solidFill>
              <a:srgbClr val="CD7F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123444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D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1234440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0+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40480" y="1920240"/>
            <a:ext cx="2194560" cy="566928"/>
          </a:xfrm>
          <a:prstGeom prst="rect">
            <a:avLst/>
          </a:prstGeom>
          <a:solidFill>
            <a:srgbClr val="162840"/>
          </a:solidFill>
          <a:ln w="19050">
            <a:solidFill>
              <a:srgbClr val="C0C0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192024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20640" y="1920240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840480" y="2606040"/>
            <a:ext cx="2194560" cy="566928"/>
          </a:xfrm>
          <a:prstGeom prst="rect">
            <a:avLst/>
          </a:prstGeom>
          <a:solidFill>
            <a:srgbClr val="162840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0" y="260604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20640" y="2606040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840480" y="3291840"/>
            <a:ext cx="2194560" cy="566928"/>
          </a:xfrm>
          <a:prstGeom prst="rect">
            <a:avLst/>
          </a:prstGeom>
          <a:solidFill>
            <a:srgbClr val="162840"/>
          </a:solidFill>
          <a:ln w="19050">
            <a:solidFill>
              <a:srgbClr val="E5E4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0" y="329184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20640" y="3291840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0" y="822960"/>
            <a:ext cx="2377440" cy="329184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822960"/>
            <a:ext cx="54864" cy="32918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9144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29400" y="1298448"/>
            <a:ext cx="20116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catalog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Redemption processing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rules config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auto-upgrade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history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Anti-fraud dedup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DB: RewardsAccounts  ·  RewardsTransactions  ·  EarnRules  ·  Catalog  ·  Redemptions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C6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Notification Service — Real-Time Alerts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1280160" cy="36576"/>
          </a:xfrm>
          <a:prstGeom prst="rect">
            <a:avLst/>
          </a:prstGeom>
          <a:solidFill>
            <a:srgbClr val="26C6DA"/>
          </a:solidFill>
          <a:ln w="12700">
            <a:solidFill>
              <a:srgbClr val="26C6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8412480" cy="475488"/>
          </a:xfrm>
          <a:prstGeom prst="rect">
            <a:avLst/>
          </a:prstGeom>
          <a:solidFill>
            <a:srgbClr val="0A2A35"/>
          </a:solidFill>
          <a:ln w="19050">
            <a:solidFill>
              <a:srgbClr val="26C6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LISTENER — Never initiates. Only reacts to events from other services.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5029200" cy="265176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63040"/>
            <a:ext cx="54864" cy="2651760"/>
          </a:xfrm>
          <a:prstGeom prst="rect">
            <a:avLst/>
          </a:prstGeom>
          <a:solidFill>
            <a:srgbClr val="26C6DA"/>
          </a:solidFill>
          <a:ln w="12700">
            <a:solidFill>
              <a:srgbClr val="26C6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727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Consumed from RabbitMQ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kyc_submitted       →  "Your KYC is under review"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topup_completed     →  "Wallet credited"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transfer_completed  →  "Transfer sent / received"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KYCApproved         →  "KYC status update"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PointsEarned        →  "You earned X points!"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TicketCreated       →  "Support ticket opened"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0" y="1463040"/>
            <a:ext cx="3108960" cy="265176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0" y="1463040"/>
            <a:ext cx="54864" cy="265176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15727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97880" y="1938528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/api/notifications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(paginated + unread count)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 /{id}/read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 /read-all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3291840"/>
            <a:ext cx="3108960" cy="512064"/>
          </a:xfrm>
          <a:prstGeom prst="rect">
            <a:avLst/>
          </a:prstGeom>
          <a:solidFill>
            <a:srgbClr val="142214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3291840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Enhancement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delivery layer added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473659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DB: NotificationLogs  ·  NotificationTemplates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53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 Ticket Service — Help Desk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1280160" cy="36576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137160"/>
            <a:ext cx="1463040" cy="29260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1371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 V2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Lifecycle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828800" cy="548640"/>
          </a:xfrm>
          <a:prstGeom prst="rect">
            <a:avLst/>
          </a:prstGeom>
          <a:solidFill>
            <a:srgbClr val="162840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34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0" y="1508760"/>
            <a:ext cx="274320" cy="0"/>
          </a:xfrm>
          <a:prstGeom prst="line">
            <a:avLst/>
          </a:prstGeom>
          <a:noFill/>
          <a:ln w="25400">
            <a:solidFill>
              <a:srgbClr val="8FA8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1234440"/>
            <a:ext cx="1828800" cy="548640"/>
          </a:xfrm>
          <a:prstGeom prst="rect">
            <a:avLst/>
          </a:prstGeom>
          <a:solidFill>
            <a:srgbClr val="162840"/>
          </a:solidFill>
          <a:ln w="254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234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InProgress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89120" y="1508760"/>
            <a:ext cx="274320" cy="0"/>
          </a:xfrm>
          <a:prstGeom prst="line">
            <a:avLst/>
          </a:prstGeom>
          <a:noFill/>
          <a:ln w="25400">
            <a:solidFill>
              <a:srgbClr val="8FA8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234440"/>
            <a:ext cx="1828800" cy="548640"/>
          </a:xfrm>
          <a:prstGeom prst="rect">
            <a:avLst/>
          </a:prstGeom>
          <a:solidFill>
            <a:srgbClr val="162840"/>
          </a:solidFill>
          <a:ln w="25400">
            <a:solidFill>
              <a:srgbClr val="AB47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234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92240" y="1508760"/>
            <a:ext cx="274320" cy="0"/>
          </a:xfrm>
          <a:prstGeom prst="line">
            <a:avLst/>
          </a:prstGeom>
          <a:noFill/>
          <a:ln w="25400">
            <a:solidFill>
              <a:srgbClr val="8FA8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0" y="1234440"/>
            <a:ext cx="1828800" cy="548640"/>
          </a:xfrm>
          <a:prstGeom prst="rect">
            <a:avLst/>
          </a:prstGeom>
          <a:solidFill>
            <a:srgbClr val="162840"/>
          </a:solidFill>
          <a:ln w="2540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1234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2011680"/>
            <a:ext cx="4846320" cy="246888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011680"/>
            <a:ext cx="54864" cy="246888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12140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2487168"/>
            <a:ext cx="44805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Threaded conversation model (user + admin replies)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view their full ticket history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view and manage all tickets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published on creation → Notification Service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and status tracking throughout lifecycle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0" y="2011680"/>
            <a:ext cx="3291840" cy="246888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0" y="2011680"/>
            <a:ext cx="54864" cy="246888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212140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715000" y="2487168"/>
            <a:ext cx="2926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/api/support/tickets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/tickets/{id}/reply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 /tickets/{id}/close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/tickets (paginated)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/tickets/{id}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73659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DB: SupportTickets  ·  TicketReplies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 Architecture — Every Service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128016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22960"/>
            <a:ext cx="3931920" cy="475488"/>
          </a:xfrm>
          <a:prstGeom prst="rect">
            <a:avLst/>
          </a:prstGeom>
          <a:solidFill>
            <a:srgbClr val="162840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64008" cy="47548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/ API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3931920" cy="475488"/>
          </a:xfrm>
          <a:prstGeom prst="rect">
            <a:avLst/>
          </a:prstGeom>
          <a:solidFill>
            <a:srgbClr val="162840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17320"/>
            <a:ext cx="64008" cy="47548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17320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 (Services · DTOs · Interfaces · Mappers)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3931920" cy="475488"/>
          </a:xfrm>
          <a:prstGeom prst="rect">
            <a:avLst/>
          </a:prstGeom>
          <a:solidFill>
            <a:srgbClr val="162840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011680"/>
            <a:ext cx="64008" cy="47548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11680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 (Entities · Enums · Value Objects)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3931920" cy="475488"/>
          </a:xfrm>
          <a:prstGeom prst="rect">
            <a:avLst/>
          </a:prstGeom>
          <a:solidFill>
            <a:srgbClr val="162840"/>
          </a:solidFill>
          <a:ln w="19050">
            <a:solidFill>
              <a:srgbClr val="FF704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606040"/>
            <a:ext cx="64008" cy="475488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606040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 (EF Core · Repos · Consumers · HTTP Clients)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0" y="1298448"/>
            <a:ext cx="0" cy="118872"/>
          </a:xfrm>
          <a:prstGeom prst="line">
            <a:avLst/>
          </a:prstGeom>
          <a:noFill/>
          <a:ln w="19050">
            <a:solidFill>
              <a:srgbClr val="8FA8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1892808"/>
            <a:ext cx="0" cy="118872"/>
          </a:xfrm>
          <a:prstGeom prst="line">
            <a:avLst/>
          </a:prstGeom>
          <a:noFill/>
          <a:ln w="19050">
            <a:solidFill>
              <a:srgbClr val="8FA8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2487168"/>
            <a:ext cx="0" cy="118872"/>
          </a:xfrm>
          <a:prstGeom prst="line">
            <a:avLst/>
          </a:prstGeom>
          <a:noFill/>
          <a:ln w="19050">
            <a:solidFill>
              <a:srgbClr val="8FA8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3931920" cy="548640"/>
          </a:xfrm>
          <a:prstGeom prst="rect">
            <a:avLst/>
          </a:prstGeom>
          <a:solidFill>
            <a:srgbClr val="1A2E1A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461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only point INWARD.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has zero knowledge of infrastructure.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0" y="822960"/>
            <a:ext cx="4206240" cy="420624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822960"/>
            <a:ext cx="54864" cy="42062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914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1298448"/>
            <a:ext cx="3840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ServiceName/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Controllers/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Application/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Services/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DTOs/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Interfaces/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Mappers/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Domain/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Entities/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Enums/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70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Infrastructure/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Data/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Repositories/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Consumers/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ServiceClients/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F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Middleware/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D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This Production-Grade?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1280160" cy="3657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04672"/>
            <a:ext cx="4206240" cy="1920240"/>
          </a:xfrm>
          <a:prstGeom prst="rect">
            <a:avLst/>
          </a:prstGeom>
          <a:solidFill>
            <a:srgbClr val="162840"/>
          </a:solidFill>
          <a:ln w="1905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420624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7782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— salted, adaptive cost hashing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Refresh Token Rotation (OAuth2)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with 5-min expiry for sensitive ops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— User vs Admin JWT claims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Zero-Trust: only port 5000 exposed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804672"/>
            <a:ext cx="4206240" cy="1920240"/>
          </a:xfrm>
          <a:prstGeom prst="rect">
            <a:avLst/>
          </a:prstGeom>
          <a:solidFill>
            <a:srgbClr val="162840"/>
          </a:solidFill>
          <a:ln w="1905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804672"/>
            <a:ext cx="420624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87782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Financial-Grade Reliability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261872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Ledger — immutable audit trail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via Reference IDs (no double-charge)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&amp; Monthly transfer limits (fraud prevention)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onboarding — regulatory compliance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4206240" cy="1920240"/>
          </a:xfrm>
          <a:prstGeom prst="rect">
            <a:avLst/>
          </a:prstGeom>
          <a:solidFill>
            <a:srgbClr val="162840"/>
          </a:solidFill>
          <a:ln w="19050">
            <a:solidFill>
              <a:srgbClr val="AB47B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80360"/>
            <a:ext cx="4206240" cy="54864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5351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Scalability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33756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 in WalletService — industry finance pattern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 Consistency — CAP theorem aware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Database-per-Service — Netflix/Uber-style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MassTransit — broker-agnostic abstraction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SharedContracts — single source of truth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880360"/>
            <a:ext cx="4206240" cy="1920240"/>
          </a:xfrm>
          <a:prstGeom prst="rect">
            <a:avLst/>
          </a:prstGeom>
          <a:solidFill>
            <a:srgbClr val="162840"/>
          </a:solidFill>
          <a:ln w="19050">
            <a:solidFill>
              <a:srgbClr val="FF704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880360"/>
            <a:ext cx="4206240" cy="54864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95351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&amp; DevOps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333756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Serilog structured logging — ELK/Splunk ready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Exception Middleware — zero stack trace leaks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Migration versioning — CD pipeline ready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multi-stage builds — env parity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per service — self-documenting APIs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solidFill>
            <a:srgbClr val="1C2E1A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like a real fintech product  —  Scalable  ·  Compliant  ·  Observable  ·  Resilient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Wallet Backend Architecture</dc:title>
  <dc:subject>PptxGenJS Presentation</dc:subject>
  <dc:creator>PptxGenJS</dc:creator>
  <cp:lastModifiedBy>PptxGenJS</cp:lastModifiedBy>
  <cp:revision>4</cp:revision>
  <dcterms:created xsi:type="dcterms:W3CDTF">2026-04-13T16:11:27Z</dcterms:created>
  <dcterms:modified xsi:type="dcterms:W3CDTF">2026-04-15T03:44:35Z</dcterms:modified>
</cp:coreProperties>
</file>